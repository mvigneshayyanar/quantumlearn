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Georgia"/>
              </a:defRPr>
            </a:pPr>
            <a:r>
              <a:t>Youth Entrepreneurs Challenge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  <a:latin typeface="Arial"/>
              </a:defRPr>
            </a:pPr>
            <a:r>
              <a:t>National Innovation &amp; Educational Technology Showcase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194560"/>
            <a:ext cx="8899855" cy="3474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81683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700">
                <a:solidFill>
                  <a:srgbClr val="B45309"/>
                </a:solidFill>
              </a:rPr>
              <a:t>•  Team Name          </a:t>
            </a:r>
            <a:r>
              <a:rPr b="0" sz="1700">
                <a:solidFill>
                  <a:srgbClr val="FFFFFF"/>
                </a:solidFill>
              </a:rPr>
              <a:t>: OptiMind</a:t>
            </a:r>
          </a:p>
          <a:p>
            <a:pPr>
              <a:spcBef>
                <a:spcPts val="800"/>
              </a:spcBef>
            </a:pPr>
            <a:r>
              <a:rPr b="1" sz="1700">
                <a:solidFill>
                  <a:srgbClr val="B45309"/>
                </a:solidFill>
              </a:rPr>
              <a:t>•  Idea Title         </a:t>
            </a:r>
            <a:r>
              <a:rPr b="0" sz="1700">
                <a:solidFill>
                  <a:srgbClr val="FFFFFF"/>
                </a:solidFill>
              </a:rPr>
              <a:t>: QuanBit — AI-Based Interactive Quantum Algorithm Learning Platform</a:t>
            </a:r>
          </a:p>
          <a:p>
            <a:pPr>
              <a:spcBef>
                <a:spcPts val="800"/>
              </a:spcBef>
            </a:pPr>
            <a:r>
              <a:rPr b="1" sz="1700">
                <a:solidFill>
                  <a:srgbClr val="B45309"/>
                </a:solidFill>
              </a:rPr>
              <a:t>•  Theme              </a:t>
            </a:r>
            <a:r>
              <a:rPr b="0" sz="1700">
                <a:solidFill>
                  <a:srgbClr val="FFFFFF"/>
                </a:solidFill>
              </a:rPr>
              <a:t>: Education &amp; Skill Development</a:t>
            </a:r>
          </a:p>
          <a:p>
            <a:pPr>
              <a:spcBef>
                <a:spcPts val="800"/>
              </a:spcBef>
            </a:pPr>
            <a:r>
              <a:rPr b="1" sz="1700">
                <a:solidFill>
                  <a:srgbClr val="B45309"/>
                </a:solidFill>
              </a:rPr>
              <a:t>•  Startup Entity     </a:t>
            </a:r>
            <a:r>
              <a:rPr b="0" sz="1700">
                <a:solidFill>
                  <a:srgbClr val="FFFFFF"/>
                </a:solidFill>
              </a:rPr>
              <a:t>: REVERSUN</a:t>
            </a:r>
          </a:p>
          <a:p>
            <a:pPr>
              <a:spcBef>
                <a:spcPts val="800"/>
              </a:spcBef>
            </a:pPr>
            <a:r>
              <a:rPr b="1" sz="1700">
                <a:solidFill>
                  <a:srgbClr val="B45309"/>
                </a:solidFill>
              </a:rPr>
              <a:t>•  Core Focus         </a:t>
            </a:r>
            <a:r>
              <a:rPr b="0" sz="1700">
                <a:solidFill>
                  <a:srgbClr val="FFFFFF"/>
                </a:solidFill>
              </a:rPr>
              <a:t>: WebGL 3D Bloch Mechanics, AST Transpilation, Socratic AI &amp; Academy Analytics</a:t>
            </a:r>
          </a:p>
          <a:p>
            <a:pPr>
              <a:spcBef>
                <a:spcPts val="800"/>
              </a:spcBef>
            </a:pPr>
            <a:r>
              <a:rPr b="1" sz="1700">
                <a:solidFill>
                  <a:srgbClr val="B45309"/>
                </a:solidFill>
              </a:rPr>
              <a:t>•  Live URL           </a:t>
            </a:r>
            <a:r>
              <a:rPr b="0" sz="1700">
                <a:solidFill>
                  <a:srgbClr val="FFFFFF"/>
                </a:solidFill>
              </a:rPr>
              <a:t>: https://www.quanbit.tech/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Confidential Pitch Deck — Proprietary &amp; Patent-Pending Pedagogical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PROBLEM STATEMENT &amp; MARKET URGENCY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265176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  <a:latin typeface="Georgia"/>
              </a:defRPr>
            </a:pPr>
            <a:r>
              <a:t>300,000</a:t>
            </a:r>
          </a:p>
          <a:p>
            <a:pPr algn="ctr">
              <a:defRPr sz="1000">
                <a:solidFill>
                  <a:srgbClr val="1E293B"/>
                </a:solidFill>
                <a:latin typeface="Arial"/>
              </a:defRPr>
            </a:pPr>
            <a:r>
              <a:t>Quantum Specialists Needed Worldwide by 2030 (McKinsey)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097280"/>
            <a:ext cx="2651760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C2626"/>
                </a:solidFill>
                <a:latin typeface="Georgia"/>
              </a:defRPr>
            </a:pPr>
            <a:r>
              <a:t>Only 1 in 3</a:t>
            </a:r>
          </a:p>
          <a:p>
            <a:pPr algn="ctr">
              <a:defRPr sz="1000">
                <a:solidFill>
                  <a:srgbClr val="1E293B"/>
                </a:solidFill>
                <a:latin typeface="Arial"/>
              </a:defRPr>
            </a:pPr>
            <a:r>
              <a:t>Qualified Candidates available per open Quantum job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097280"/>
            <a:ext cx="2651760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B45309"/>
                </a:solidFill>
                <a:latin typeface="Georgia"/>
              </a:defRPr>
            </a:pPr>
            <a:r>
              <a:t>₹6,003 Cr</a:t>
            </a:r>
          </a:p>
          <a:p>
            <a:pPr algn="ctr">
              <a:defRPr sz="1000">
                <a:solidFill>
                  <a:srgbClr val="1E293B"/>
                </a:solidFill>
                <a:latin typeface="Arial"/>
              </a:defRPr>
            </a:pPr>
            <a:r>
              <a:t>Budget allocated by Indian Govt for National Quantum Mission (NQM)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097280"/>
            <a:ext cx="2651760" cy="13716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7C3AED"/>
                </a:solidFill>
                <a:latin typeface="Georgia"/>
              </a:defRPr>
            </a:pPr>
            <a:r>
              <a:t>2 Weeks</a:t>
            </a:r>
          </a:p>
          <a:p>
            <a:pPr algn="ctr">
              <a:defRPr sz="1000">
                <a:solidFill>
                  <a:srgbClr val="1E293B"/>
                </a:solidFill>
                <a:latin typeface="Arial"/>
              </a:defRPr>
            </a:pPr>
            <a:r>
              <a:t>Wasted in collegiate labs fixing Conda/Python dependency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4864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  <a:latin typeface="Arial"/>
              </a:defRPr>
            </a:pPr>
            <a:r>
              <a:t>1. Mathematical Abstraction Barrier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Novice students encounter complex Hilbert spaces (C^(2^n)) and tensor products before developing spatial or geometric intuition on phase rotations and superposition.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51760"/>
            <a:ext cx="54864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5309"/>
                </a:solidFill>
                <a:latin typeface="Arial"/>
              </a:defRPr>
            </a:pPr>
            <a:r>
              <a:t>2. Disconnected Tooling (Code vs GUI)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Existing platforms force a choice: drag-and-drop circuit toys OR raw Python code editors. They are never kept in real-time bidirectional synchronization.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54864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C3AED"/>
                </a:solidFill>
                <a:latin typeface="Arial"/>
              </a:defRPr>
            </a:pPr>
            <a:r>
              <a:t>3. Visualization Breakdown on Entanglement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Single-qubit Bloch spheres freeze or display misleading classical coordinates when bipartite entanglement forms (Bell states), cementing core misconceptions.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389120"/>
            <a:ext cx="54864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4. Zero Classroom Visibility &amp; Syntax-Only Errors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Compilers only flag syntax typos, not conceptual quantum mistakes (wrong basis, misapplied phase kickback). Instructors have zero cohort-level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PROPOSED SOLUTION &amp; 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3035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PROPOSED SOLUTION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Quantum Circuit Lab: </a:t>
            </a:r>
            <a:r>
              <a:rPr sz="1000">
                <a:solidFill>
                  <a:srgbClr val="1E293B"/>
                </a:solidFill>
              </a:rPr>
              <a:t>Synced drag-and-drop builder + Monaco Editor. Edit visually or textually; both stay synchronized.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3D Quantum Visualization: </a:t>
            </a:r>
            <a:r>
              <a:rPr sz="1000">
                <a:solidFill>
                  <a:srgbClr val="1E293B"/>
                </a:solidFill>
              </a:rPr>
              <a:t>6-Axis WebGL Three.js Bloch Sphere with continuous SLERP rotations &amp; true bipartite entanglement purity contraction.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Schrödinger AI Tutor: </a:t>
            </a:r>
            <a:r>
              <a:rPr sz="1000">
                <a:solidFill>
                  <a:srgbClr val="1E293B"/>
                </a:solidFill>
              </a:rPr>
              <a:t>Socratic hints bounded by negative constraints; diagnoses conceptual errors using geometric discrepancy analysis.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Practice Arena: </a:t>
            </a:r>
            <a:r>
              <a:rPr sz="1000">
                <a:solidFill>
                  <a:srgbClr val="1E293B"/>
                </a:solidFill>
              </a:rPr>
              <a:t>40+ algorithmic challenges with live circuit oracle grading (Accepted / Wrong Answer).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Instructor Academy Portal: </a:t>
            </a:r>
            <a:r>
              <a:rPr sz="1000">
                <a:solidFill>
                  <a:srgbClr val="1E293B"/>
                </a:solidFill>
              </a:rPr>
              <a:t>Real-time cohort performance and student misconception heatmaps powered by Prisma analytics.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Dual Learning Modes: </a:t>
            </a:r>
            <a:r>
              <a:rPr sz="1000">
                <a:solidFill>
                  <a:srgbClr val="1E293B"/>
                </a:solidFill>
              </a:rPr>
              <a:t>Progressive disclosure: Beginner Visual Mode vs Advanced Dirac Notation Mode.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1097280"/>
          <a:ext cx="5486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210312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Existing Tools (IBM/Quirk)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QuanBit (Ours)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Circuit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Visual ONLY or Code ONLY. Never kept in sync.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Bidirectional Visual Builder + Monaco Code Editor in real-time sync.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Entanglement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Bloch spheres freeze, crash, or show misleading coordinates.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Purity Gauge (Tr(p^2)) visually contracts mixed statevectors into sphere.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Mistake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Syntax and dimension runtime errors 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Schrödinger AI Socratic Guidance (basis, kickback, gate errors).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Classroom Visibility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None. Designed strictly for isolated individual sandbox.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Live Cohort Misconception Heatmaps &amp; automated homework grading.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TECHNICAL APPROACH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2918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32918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1. TECHNOLOGIES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Frontend: </a:t>
            </a:r>
            <a:r>
              <a:rPr sz="1000">
                <a:solidFill>
                  <a:srgbClr val="1E293B"/>
                </a:solidFill>
              </a:rPr>
              <a:t>Next.js 14.2.35 (React 18)
Tailwind CSS · Lucide Icons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3D Engine: </a:t>
            </a:r>
            <a:r>
              <a:rPr sz="1000">
                <a:solidFill>
                  <a:srgbClr val="1E293B"/>
                </a:solidFill>
              </a:rPr>
              <a:t>Three.js WebGL (6-Axis SLERP geodesic rotation engine)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Simulators: </a:t>
            </a:r>
            <a:r>
              <a:rPr sz="1000">
                <a:solidFill>
                  <a:srgbClr val="1E293B"/>
                </a:solidFill>
              </a:rPr>
              <a:t>Primary: Python FastAPI + Qiskit Aer
Fallback: 15ms TypeScript Engine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AI Mentor: </a:t>
            </a:r>
            <a:r>
              <a:rPr sz="1000">
                <a:solidFill>
                  <a:srgbClr val="1E293B"/>
                </a:solidFill>
              </a:rPr>
              <a:t>Google Gemini Tier 1 API
Negative-constrained Socratic Agent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Database: </a:t>
            </a:r>
            <a:r>
              <a:rPr sz="1000">
                <a:solidFill>
                  <a:srgbClr val="1E293B"/>
                </a:solidFill>
              </a:rPr>
              <a:t>Neon Serverless PostgreSQL
Prisma ORM (PgBouncer pooled)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Transpiler: </a:t>
            </a:r>
            <a:r>
              <a:rPr sz="1000">
                <a:solidFill>
                  <a:srgbClr val="1E293B"/>
                </a:solidFill>
              </a:rPr>
              <a:t>Universal AST bidirectional bridge
(Qiskit, Cirq, PennyLane, QASM)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09728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1097280"/>
            <a:ext cx="3566160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2. SYSTEM 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100">
                <a:solidFill>
                  <a:srgbClr val="B45309"/>
                </a:solidFill>
              </a:rPr>
              <a:t>1. Student / Educator Canvas: </a:t>
            </a:r>
            <a:r>
              <a:rPr sz="1000">
                <a:solidFill>
                  <a:srgbClr val="1E293B"/>
                </a:solidFill>
              </a:rPr>
              <a:t>Interactive circuit wire updates trigger dual dispatch: AST compiler and WebGL visualizer.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B45309"/>
                </a:solidFill>
              </a:rPr>
              <a:t>2. Dual Simulation Dispatch: </a:t>
            </a:r>
            <a:r>
              <a:rPr sz="1000">
                <a:solidFill>
                  <a:srgbClr val="1E293B"/>
                </a:solidFill>
              </a:rPr>
              <a:t>API route queries Qiskit Aer (port 8000). On latency &gt; 250ms, falls back to 15ms TypeScript engine.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B45309"/>
                </a:solidFill>
              </a:rPr>
              <a:t>3. Statevector &amp; Purity Engine: </a:t>
            </a:r>
            <a:r>
              <a:rPr sz="1000">
                <a:solidFill>
                  <a:srgbClr val="1E293B"/>
                </a:solidFill>
              </a:rPr>
              <a:t>Extracts exact amplitudes, measurement probabilities, and trace purity gamma = Tr(rho^2).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B45309"/>
                </a:solidFill>
              </a:rPr>
              <a:t>4. Schrödinger AI Socratic Core: </a:t>
            </a:r>
            <a:r>
              <a:rPr sz="1000">
                <a:solidFill>
                  <a:srgbClr val="1E293B"/>
                </a:solidFill>
              </a:rPr>
              <a:t>Computes geometric state discrepancy (dTheta, dPhi). Evaluates against 8 misconception tags.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B45309"/>
                </a:solidFill>
              </a:rPr>
              <a:t>5. Prisma PostgreSQL Ledger: </a:t>
            </a:r>
            <a:r>
              <a:rPr sz="1000">
                <a:solidFill>
                  <a:srgbClr val="1E293B"/>
                </a:solidFill>
              </a:rPr>
              <a:t>Records user progression, quiz attempts, practice submissions, and instructor cohort logs.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B45309"/>
                </a:solidFill>
              </a:rPr>
              <a:t>6. SHA-256 Verifier (/verify/[id]): </a:t>
            </a:r>
            <a:r>
              <a:rPr sz="1000">
                <a:solidFill>
                  <a:srgbClr val="1E293B"/>
                </a:solidFill>
              </a:rPr>
              <a:t>Emits cryptographically tamper-proof course completion certificates.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097280"/>
            <a:ext cx="38404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0" y="1097280"/>
            <a:ext cx="384048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3. WORKING PROTOTYPE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100">
                <a:solidFill>
                  <a:srgbClr val="059669"/>
                </a:solidFill>
              </a:rPr>
              <a:t>✓ Production Compilation: </a:t>
            </a:r>
            <a:r>
              <a:rPr sz="1000">
                <a:solidFill>
                  <a:srgbClr val="1E293B"/>
                </a:solidFill>
              </a:rPr>
              <a:t>22 static/dynamic routes passing with 0 TypeScript errors via Next.js 14.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59669"/>
                </a:solidFill>
              </a:rPr>
              <a:t>✓ Circuit Builder &amp; Editor: </a:t>
            </a:r>
            <a:r>
              <a:rPr sz="1000">
                <a:solidFill>
                  <a:srgbClr val="1E293B"/>
                </a:solidFill>
              </a:rPr>
              <a:t>Drag-and-drop wire canvas synchronized bidirectionally with Monaco text editor.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59669"/>
                </a:solidFill>
              </a:rPr>
              <a:t>✓ 3D Bloch Sphere Explorer: </a:t>
            </a:r>
            <a:r>
              <a:rPr sz="1000">
                <a:solidFill>
                  <a:srgbClr val="1E293B"/>
                </a:solidFill>
              </a:rPr>
              <a:t>Continuous geodesic statevector SLERP rotations with real-time radial entanglement shrinkage.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59669"/>
                </a:solidFill>
              </a:rPr>
              <a:t>✓ Algorithm Modules Live: </a:t>
            </a:r>
            <a:r>
              <a:rPr sz="1000">
                <a:solidFill>
                  <a:srgbClr val="1E293B"/>
                </a:solidFill>
              </a:rPr>
              <a:t>Full step-by-step interactive tracks for Deutsch-Jozsa, Bell States, Grover's Search, Teleportation.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59669"/>
                </a:solidFill>
              </a:rPr>
              <a:t>✓ Practice Arena Live: </a:t>
            </a:r>
            <a:r>
              <a:rPr sz="1000">
                <a:solidFill>
                  <a:srgbClr val="1E293B"/>
                </a:solidFill>
              </a:rPr>
              <a:t>40+ challenges with real-time circuit oracle evaluating submitted gates.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59669"/>
                </a:solidFill>
              </a:rPr>
              <a:t>✓ Instructor Dashboard (/instructor): </a:t>
            </a:r>
            <a:r>
              <a:rPr sz="1000">
                <a:solidFill>
                  <a:srgbClr val="1E293B"/>
                </a:solidFill>
              </a:rPr>
              <a:t>Live heatmap tracking class difficulty across 8 misconception tags.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MARKET OPPORTUNITY &amp; TIMING (TAM / SAM / SOM)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94415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Georgia"/>
              </a:defRPr>
            </a:pPr>
            <a:r>
              <a:t>Macro Catalyst: India's National Quantum Mission (₹6,003 Crore) + Global Shortage of 300,000 Quantum Engineers</a:t>
            </a:r>
          </a:p>
          <a:p>
            <a:pPr algn="ctr">
              <a:defRPr sz="1100">
                <a:solidFill>
                  <a:srgbClr val="1E293B"/>
                </a:solidFill>
                <a:latin typeface="Arial"/>
              </a:defRPr>
            </a:pPr>
            <a:r>
              <a:t>Colleges are mandated to become quantum-ready, but lack dedicated quantum physical hardware or specialized lab faculty.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3520440" cy="40690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TAM (Total Addressable)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2563EB"/>
                </a:solidFill>
                <a:latin typeface="Georgia"/>
              </a:defRPr>
            </a:pPr>
            <a:r>
              <a:t>$1.8 Billion / ₹15,000 Cr</a:t>
            </a:r>
          </a:p>
          <a:p>
            <a:pPr>
              <a:spcBef>
                <a:spcPts val="1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Global Quantum Information Science and Technology (QIST) educational platforms, enterprise workforce upskilling, and multi-cloud simulator software market.</a:t>
            </a:r>
          </a:p>
          <a:p>
            <a:pPr>
              <a:spcBef>
                <a:spcPts val="1200"/>
              </a:spcBef>
              <a:defRPr sz="1000" b="1">
                <a:solidFill>
                  <a:srgbClr val="2563EB"/>
                </a:solidFill>
              </a:defRPr>
            </a:pPr>
            <a:r>
              <a:t>Driver: 300,000 global talent shortage.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20440" cy="40690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SAM (Serviceable Addressable)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B45309"/>
                </a:solidFill>
                <a:latin typeface="Georgia"/>
              </a:defRPr>
            </a:pPr>
            <a:r>
              <a:t>₹1,200 Crore / $145 Million</a:t>
            </a:r>
          </a:p>
          <a:p>
            <a:pPr>
              <a:spcBef>
                <a:spcPts val="1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1,200+ accredited STEM, Physics &amp; Computer Science university departments across India, Southeast Asia, and Tier-1 research labs mandating quantum coursework.</a:t>
            </a:r>
          </a:p>
          <a:p>
            <a:pPr>
              <a:spcBef>
                <a:spcPts val="1200"/>
              </a:spcBef>
              <a:defRPr sz="1000" b="1">
                <a:solidFill>
                  <a:srgbClr val="B45309"/>
                </a:solidFill>
              </a:defRPr>
            </a:pPr>
            <a:r>
              <a:t>Driver: NQM curriculum mandate.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57400"/>
            <a:ext cx="3520440" cy="40690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SOM (Serviceable Obtainable)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059669"/>
                </a:solidFill>
                <a:latin typeface="Georgia"/>
              </a:defRPr>
            </a:pPr>
            <a:r>
              <a:t>₹15 Crore / $1.8 Million (Year 1-3)</a:t>
            </a:r>
          </a:p>
          <a:p>
            <a:pPr>
              <a:spcBef>
                <a:spcPts val="1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150 Tier-1/2 Indian engineering collegiate cohorts + 15,000 self-directed student and developer subscribers adopting the platform.</a:t>
            </a:r>
          </a:p>
          <a:p>
            <a:pPr>
              <a:spcBef>
                <a:spcPts val="1200"/>
              </a:spcBef>
              <a:defRPr sz="1000" b="1">
                <a:solidFill>
                  <a:srgbClr val="059669"/>
                </a:solidFill>
              </a:defRPr>
            </a:pPr>
            <a:r>
              <a:t>Driver: Direct college lab 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BUSINESS MODEL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486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3-TIER MONETIZATION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200">
                <a:solidFill>
                  <a:srgbClr val="2563EB"/>
                </a:solidFill>
              </a:rPr>
              <a:t>Community Tier (Free / Freemium)
</a:t>
            </a:r>
            <a:r>
              <a:rPr b="1" sz="1100">
                <a:solidFill>
                  <a:srgbClr val="B45309"/>
                </a:solidFill>
              </a:rPr>
              <a:t>Price: ₹0 / Free Forever
</a:t>
            </a:r>
            <a:r>
              <a:rPr sz="1000">
                <a:solidFill>
                  <a:srgbClr val="1E293B"/>
                </a:solidFill>
              </a:rPr>
              <a:t>• Up to 3 qubits client-side TypeScript simulation
• Core 3D Bloch sphere &amp; intro algorithm tracks
• Viral organic acquisition channel for student developers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563EB"/>
                </a:solidFill>
              </a:rPr>
              <a:t>Pro Individual Developer
</a:t>
            </a:r>
            <a:r>
              <a:rPr b="1" sz="1100">
                <a:solidFill>
                  <a:srgbClr val="B45309"/>
                </a:solidFill>
              </a:rPr>
              <a:t>Price: ₹999 / $14 per Month  (₹8,999 / $119 per Year)
</a:t>
            </a:r>
            <a:r>
              <a:rPr sz="1000">
                <a:solidFill>
                  <a:srgbClr val="1E293B"/>
                </a:solidFill>
              </a:rPr>
              <a:t>• Unlimited Schrödinger AI Socratic tutoring
• 40+ Practice Arena challenges &amp; automated grading
• Multi-SDK transpilation (Qiskit, Cirq, PennyLane)
• Cryptographically verifiable SHA-256 certificate ledger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563EB"/>
                </a:solidFill>
              </a:rPr>
              <a:t>Academic Academy Cohort (B2B)
</a:t>
            </a:r>
            <a:r>
              <a:rPr b="1" sz="1100">
                <a:solidFill>
                  <a:srgbClr val="B45309"/>
                </a:solidFill>
              </a:rPr>
              <a:t>Price: ₹99,000 / $1,200 per Course / Year
</a:t>
            </a:r>
            <a:r>
              <a:rPr sz="1000">
                <a:solidFill>
                  <a:srgbClr val="1E293B"/>
                </a:solidFill>
              </a:rPr>
              <a:t>• Unlimited student seats (~₹24/student for a 50-student lab)
• Live faculty misconception heatmap at /instructor
• Turnkey 14-week Canvas / Blackboard LMS lab pack
• Priority Qiskit cloud simulation backend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UNIT ECONOMICS &amp; FINANCIAL VIABILITY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1100">
                <a:solidFill>
                  <a:srgbClr val="059669"/>
                </a:solidFill>
              </a:rPr>
              <a:t>• 87% Gross Margin: </a:t>
            </a:r>
            <a:r>
              <a:rPr sz="1000">
                <a:solidFill>
                  <a:srgbClr val="1E293B"/>
                </a:solidFill>
              </a:rPr>
              <a:t>Unit Price: ₹999 / mo. Variable costs = ₹130 (AI tokens ₹35, server compute ₹30, payment gateway ₹65). Leaves ₹869 contribution per user.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59669"/>
                </a:solidFill>
              </a:rPr>
              <a:t>• Break-Even: 12 Sales / Day: </a:t>
            </a:r>
            <a:r>
              <a:rPr sz="1000">
                <a:solidFill>
                  <a:srgbClr val="1E293B"/>
                </a:solidFill>
              </a:rPr>
              <a:t>Only 360 active paying subscribers required to cover the entire monthly fixed operating overhead (₹3.6 Lakhs / mo).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59669"/>
                </a:solidFill>
              </a:rPr>
              <a:t>• ₹34 Lakhs ($40.8K) Year 1 Net Profit: </a:t>
            </a:r>
            <a:r>
              <a:rPr sz="1000">
                <a:solidFill>
                  <a:srgbClr val="1E293B"/>
                </a:solidFill>
              </a:rPr>
              <a:t>Modeled on a conservative 12-month ramp starting at 5 sales/day, reaching ₹88 Lakhs revenue in Year 1.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59669"/>
                </a:solidFill>
              </a:rPr>
              <a:t>• Payback in Month 8: </a:t>
            </a:r>
            <a:r>
              <a:rPr sz="1000">
                <a:solidFill>
                  <a:srgbClr val="1E293B"/>
                </a:solidFill>
              </a:rPr>
              <a:t>Initial startup development expenditure of ₹7.3 Lakhs ($8,800) fully recouped by Month 8.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59669"/>
                </a:solidFill>
              </a:rPr>
              <a:t>• Peak Cash Runway Needed: ₹11 Lakhs: </a:t>
            </a:r>
            <a:r>
              <a:rPr sz="1000">
                <a:solidFill>
                  <a:srgbClr val="1E293B"/>
                </a:solidFill>
              </a:rPr>
              <a:t>Maximum cumulative operating deficit before reaching self-sustaining profitability is only ₹11 Lakhs ($13,187).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GO-TO-MARKET (GTM) STRATEGY &amp;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20440" cy="3749039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1. Top-Down Institutional Sales</a:t>
            </a:r>
          </a:p>
          <a:p>
            <a:pPr algn="ctr">
              <a:defRPr sz="1000" b="1">
                <a:solidFill>
                  <a:srgbClr val="1E293B"/>
                </a:solidFill>
                <a:latin typeface="Arial"/>
              </a:defRPr>
            </a:pPr>
            <a:r>
              <a:t>Targeting University Physics &amp; CS Faculty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Offer the Turnkey 14-Week Quantum Lab Courseware (Canvas .imscc export).</a:t>
            </a:r>
            <a:br/>
            <a:r>
              <a:t>• Guarantee 40% reduction in TA grading hours and zero environment setup tickets.</a:t>
            </a:r>
            <a:br/>
            <a:r>
              <a:t>• Direct demonstration of live cohort misconception heatmap at /instructor.</a:t>
            </a:r>
            <a:br/>
            <a:r>
              <a:t>• Low-friction 30-day full-cohort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97280"/>
            <a:ext cx="3520440" cy="3749039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5309"/>
                </a:solidFill>
                <a:latin typeface="Arial"/>
              </a:defRPr>
            </a:pPr>
            <a:r>
              <a:t>2. Bottom-Up Campus Communities</a:t>
            </a:r>
          </a:p>
          <a:p>
            <a:pPr algn="ctr">
              <a:defRPr sz="1000" b="1">
                <a:solidFill>
                  <a:srgbClr val="1E293B"/>
                </a:solidFill>
                <a:latin typeface="Arial"/>
              </a:defRPr>
            </a:pPr>
            <a:r>
              <a:t>Sponsoring Collegiate Hackathons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Partnering with IEEE Quantum Student Chapters and university coding clubs.</a:t>
            </a:r>
            <a:br/>
            <a:r>
              <a:t>• Campus Ambassador program across 25 Tier-1/2 engineering colleges.</a:t>
            </a:r>
            <a:br/>
            <a:r>
              <a:t>• Free community challenge hackathons hosted directly on QuanBit Practice Arena.</a:t>
            </a:r>
            <a:br/>
            <a:r>
              <a:t>• Viral certificate sharing on LinkedIn with SHA-256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20440" cy="3749039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  <a:latin typeface="Arial"/>
              </a:defRPr>
            </a:pPr>
            <a:r>
              <a:t>3. Visual Developer Virality</a:t>
            </a:r>
          </a:p>
          <a:p>
            <a:pPr algn="ctr">
              <a:defRPr sz="1000" b="1">
                <a:solidFill>
                  <a:srgbClr val="1E293B"/>
                </a:solidFill>
                <a:latin typeface="Arial"/>
              </a:defRPr>
            </a:pPr>
            <a:r>
              <a:t>Show HN &amp; Hypnotic Micro-Demos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15-second visual demonstrations of 3D Bloch sphere SLERP rotations vs Bell state contraction on TikTok, YouTube Shorts, and X.</a:t>
            </a:r>
            <a:br/>
            <a:r>
              <a:t>• Technical deep-dive Show HN and Reddit (r/QuantumComputing) launch.</a:t>
            </a:r>
            <a:br/>
            <a:r>
              <a:t>• Direct no-login sandbox experience eliminates trial friction.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1094415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TRACTION &amp; MARKET VALIDATION MILESTONES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Working Prototype Live at quanbit.tech with 22 production routes and dual Qiskit engines.</a:t>
            </a:r>
            <a:br/>
            <a:r>
              <a:t>• Tested with 3 Postgraduate Scholars who built Bell-state and Grover circuits independently.</a:t>
            </a:r>
            <a:br/>
            <a:r>
              <a:t>• 100-Agent Consumer Panel validation yielded an 82% Buy Rate with CAC target &lt; ₹1,500 vs LTV ₹6,500 (4.3:1 LTV:CAC Ratio).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FEASIBILITY, VIABILITY &amp; 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2423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5309"/>
                </a:solidFill>
                <a:latin typeface="Arial"/>
              </a:defRPr>
            </a:pPr>
            <a:r>
              <a:t>Future Viability &amp; Scalability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Quantum job market expanding to 300,000 specialists by 2030 (McKinsey).</a:t>
            </a:r>
            <a:br/>
            <a:r>
              <a:t>• Multi-backend strategy: Google Cirq, Xanadu PennyLane, QASM 2/3.</a:t>
            </a:r>
            <a:br/>
            <a:r>
              <a:t>• Multilingual platform localization across 5+ languages via next-intl.</a:t>
            </a:r>
            <a:br/>
            <a:r>
              <a:t>• Shared community circuits, peer challenge arena, and cloud simulator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86400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Execution Strategies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Dual simulation engine: High-fidelity Qiskit microservice + 15ms TypeScript engine.</a:t>
            </a:r>
            <a:br/>
            <a:r>
              <a:t>• Socratic AI tutor utilizing geometric error discrepancy angles (dTheta, dPhi).</a:t>
            </a:r>
            <a:br/>
            <a:r>
              <a:t>• 40+ challenge Practice Arena with automated test judge.</a:t>
            </a:r>
            <a:br/>
            <a:r>
              <a:t>• Proven pilot completed with 3 PG scholars constructing circuits without assistance.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5486400" cy="2423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Arial"/>
              </a:defRPr>
            </a:pPr>
            <a:r>
              <a:t>Identified Challenges &amp; Mitigations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Simulation Concurrency: Enforce 15ms TypeScript engine on serverless edge; cap browser at 16 qubits.</a:t>
            </a:r>
            <a:br/>
            <a:r>
              <a:t>• Database Connection Limits: Implemented PgBouncer connection pooling (-pooler.neon.tech) raising ceiling to 10,000 sockets.</a:t>
            </a:r>
            <a:br/>
            <a:r>
              <a:t>• AI Rate Limits: Upgraded to Google Gemini Tier 1 Pay-As-You-Go (1,000 RPM capacity).</a:t>
            </a:r>
            <a:br/>
            <a:r>
              <a:t>• Security: Migrated to salted bcrypt and signed JWT cookies.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657600"/>
            <a:ext cx="5486400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Feasibility &amp; Operational Stack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Live Production Architecture: Next.js 14, FastAPI Qiskit microservice, Neon PostgreSQL, Gemini API.</a:t>
            </a:r>
            <a:br/>
            <a:r>
              <a:t>• Pluggable and modular microservice architecture with open-source core.</a:t>
            </a:r>
            <a:br/>
            <a:r>
              <a:t>• Extremely low deployment footprint: Vercel Pro + Railway + Neon Serverless.</a:t>
            </a:r>
            <a:br/>
            <a:r>
              <a:t>• Highly sustainable unit economics with 87% gross margin.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IMPACT AND MULTI-DIMENSIONAL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6858000" cy="1143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280160"/>
            <a:ext cx="777240" cy="7772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18872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Arial"/>
              </a:defRPr>
            </a:pPr>
            <a:r>
              <a:t>STUDENTS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Rather than memorizing abstract mathematical slides, students learn by constructing circuits themselves in 3D. Active schema acquisition accelerates retention and removes math intimidation.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6858000" cy="1143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14600"/>
            <a:ext cx="777240" cy="7772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2316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INSTITUTIONS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Colleges gain a ready-made, turnkey 14-week lab curriculum. Professors monitor student misconception heatmaps in real time and eliminate 40 hours of manual homework grading.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68580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49040"/>
            <a:ext cx="777240" cy="77724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5760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Arial"/>
              </a:defRPr>
            </a:pPr>
            <a:r>
              <a:t>ECONOMIC IMPACT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Zero costly quantum hardware or expensive software licenses required. Runs in any browser on an ordinary budget laptop, lowering lab infrastructure costs to near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6858000" cy="1143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8348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9204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SOCIAL &amp; TIER-2/3 EQUITY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Font scaling, keyboard accessibility, 5+ localized languages, and zero installation barriers ensure collegiate students in Tier-2 and Tier-3 institutions gain equal access to quantum education.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097280"/>
            <a:ext cx="3931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0" y="1097280"/>
            <a:ext cx="3931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HOLISTIC SUSTAINABILITY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7C3AED"/>
                </a:solidFill>
              </a:rPr>
              <a:t>• Environmental Benefits:
</a:t>
            </a:r>
            <a:r>
              <a:rPr sz="1000">
                <a:solidFill>
                  <a:srgbClr val="1E293B"/>
                </a:solidFill>
              </a:rPr>
              <a:t>• Eliminates the need for printed physical lab manuals and server waste.
• Lightweight frontend and edge caching minimize energy consumption.
• Completely paperless, zero-footprint learning lifecycle.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7C3AED"/>
                </a:solidFill>
              </a:rPr>
              <a:t>• Social &amp; Cognitive Benefits:
</a:t>
            </a:r>
            <a:r>
              <a:rPr sz="1000">
                <a:solidFill>
                  <a:srgbClr val="1E293B"/>
                </a:solidFill>
              </a:rPr>
              <a:t>• Makes quantum computing approachable rather than intimidating.
• Available in 5+ languages for regional accessibility.
• Builds computational curiosity and problem-solving habits.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7C3AED"/>
                </a:solidFill>
              </a:rPr>
              <a:t>• Economic Benefits:
</a:t>
            </a:r>
            <a:r>
              <a:rPr sz="1000">
                <a:solidFill>
                  <a:srgbClr val="1E293B"/>
                </a:solidFill>
              </a:rPr>
              <a:t>• Runs smoothly on any basic student laptop with standard internet.
• Democratizes access to Qiskit Aer cloud simulation.
• Cuts down both laboratory operating budgets and TA training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12-MONTH EXECUTION ROADMAP &amp;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486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12-MONTH EXECUTION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Q1 2027: Campus Pilot Expansion
</a:t>
            </a:r>
            <a:r>
              <a:rPr sz="1000">
                <a:solidFill>
                  <a:srgbClr val="1E293B"/>
                </a:solidFill>
              </a:rPr>
              <a:t>• Onboard 5 pilot engineering colleges with turnkey Canvas lab packs.
• Connect live Stripe &amp; Razorpay billing webhooks to replace simulated tier state.
• Implement PgBouncer connection pooling for 10,000 socket concurrency.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Q2 2027: National Collegiate Hackathon
</a:t>
            </a:r>
            <a:r>
              <a:rPr sz="1000">
                <a:solidFill>
                  <a:srgbClr val="1E293B"/>
                </a:solidFill>
              </a:rPr>
              <a:t>• Launch public Pro tier with ₹700 ($7/mo) launch founder pricing.
• Host National Collegiate Quantum Circuit Hackathon with IEEE Student Chapters.
• Reach 100 daily active subscribers.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Q3 2027: Financial Break-Even Milestone
</a:t>
            </a:r>
            <a:r>
              <a:rPr sz="1000">
                <a:solidFill>
                  <a:srgbClr val="1E293B"/>
                </a:solidFill>
              </a:rPr>
              <a:t>• Achieve 12 subscriber-months per day (360 active paying subscribers).
• Cross operating break-even; cover all fixed hosting and maintenance costs.
• Deploy multi-SDK auto-transpilation for Google Cirq and PennyLane.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2563EB"/>
                </a:solidFill>
              </a:rPr>
              <a:t>• Q4 2027: National Academy Scale
</a:t>
            </a:r>
            <a:r>
              <a:rPr sz="1000">
                <a:solidFill>
                  <a:srgbClr val="1E293B"/>
                </a:solidFill>
              </a:rPr>
              <a:t>• Expand to 25 university cohort licenses (₹25 Lakhs ARR).
• Achieve ₹34 Lakhs ($40.8K) Year 1 operating profit.
• Formalize integration with National Quantum Mission collegiate curriculum.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ASK &amp; USE OF FUNDS (₹15 LAKHS)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Georgia"/>
              </a:defRPr>
            </a:pPr>
            <a:r>
              <a:t>Seed Grant / Competition Ask: ₹15,00,000 ($18,000)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Runway to achieve cash-flow positivity by Month 8 and scale to 15 colleges.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59669"/>
                </a:solidFill>
              </a:rPr>
              <a:t>• 40% Product Hardening (₹6.0 Lakhs): </a:t>
            </a:r>
            <a:r>
              <a:rPr sz="1000">
                <a:solidFill>
                  <a:srgbClr val="1E293B"/>
                </a:solidFill>
              </a:rPr>
              <a:t>Connecting live Stripe billing, PgBouncer pooling, security audit, and WebGL 2D fallback.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59669"/>
                </a:solidFill>
              </a:rPr>
              <a:t>• 35% Institutional Deployment (₹5.25 Lakhs): </a:t>
            </a:r>
            <a:r>
              <a:rPr sz="1000">
                <a:solidFill>
                  <a:srgbClr val="1E293B"/>
                </a:solidFill>
              </a:rPr>
              <a:t>Subsidized sandbox onboarding and training for our first 15 collegiate faculty pilots.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59669"/>
                </a:solidFill>
              </a:rPr>
              <a:t>• 25% Cloud Simulation Compute (₹3.75 Lakhs): </a:t>
            </a:r>
            <a:r>
              <a:rPr sz="1000">
                <a:solidFill>
                  <a:srgbClr val="1E293B"/>
                </a:solidFill>
              </a:rPr>
              <a:t>Dedicated cloud FastAPI Qiskit Aer worker nodes and Gemini Tier 1 API token reserve.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CORE EXECUTION TEAM (OptiMind · REVERSUN)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Quantum Algorithm &amp; Simulation Architecture: Qiskit Aer &amp; statevector math.</a:t>
            </a:r>
            <a:br/>
            <a:r>
              <a:t>• Full-Stack &amp; Systems Engineering: Next.js 14, WebGL Three.js, Prisma, Neon.</a:t>
            </a:r>
            <a:br/>
            <a:r>
              <a:t>• Pedagogical Curriculum Lead: Socratic AI constraints &amp; misconception ontology.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OptiMind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Georgia"/>
              </a:defRPr>
            </a:pPr>
            <a:r>
              <a:t>RESEARCH, CITATIONS &amp;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6459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45309"/>
                </a:solidFill>
                <a:latin typeface="Arial"/>
              </a:defRPr>
            </a:pPr>
            <a:r>
              <a:t>Youth Entrepreneurs</a:t>
            </a:r>
            <a:br/>
            <a:r>
              <a:t>Challenge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BD5E1"/>
                </a:solidFill>
                <a:latin typeface="Consolas"/>
              </a:defRPr>
            </a:pPr>
            <a:r>
              <a:t>YOUTUBE: https://youtu.be/7j56qHWI42Q   |   LIVE PLATFORM: https://www.quanbit.tech/   |   STARTUP: REVERSUN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265176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563EB"/>
                </a:solidFill>
                <a:latin typeface="Georgia"/>
              </a:defRPr>
            </a:pPr>
            <a:r>
              <a:t>300,000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Quantum specialists needed worldwide by 2030 (McKinsey)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097280"/>
            <a:ext cx="2651760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C2626"/>
                </a:solidFill>
                <a:latin typeface="Georgia"/>
              </a:defRPr>
            </a:pPr>
            <a:r>
              <a:t>Only 1 in 3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Qualified candidate available for every 3 openings (McKinsey)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097280"/>
            <a:ext cx="2651760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45309"/>
                </a:solidFill>
                <a:latin typeface="Georgia"/>
              </a:defRPr>
            </a:pPr>
            <a:r>
              <a:t>₹6,003 Cr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Government of India National Quantum Mission budget through 2031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097280"/>
            <a:ext cx="265176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59669"/>
                </a:solidFill>
                <a:latin typeface="Georgia"/>
              </a:defRPr>
            </a:pPr>
            <a:r>
              <a:t>3 PG Scholars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t>Tested QuanBit &amp; constructed Bell/Grover circuits independently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54864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5486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ACADEMIC LITERATURE &amp; CURRICULUM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• Bridging the Quantum Education Gap: </a:t>
            </a:r>
            <a:r>
              <a:rPr sz="950">
                <a:solidFill>
                  <a:srgbClr val="1E293B"/>
                </a:solidFill>
              </a:rPr>
              <a:t>Hands-on Visualization Projects for Quantum Search Algorithm (IEEE Trans. on Education).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• Teaching Quantum to High-School &amp; Undergrads: </a:t>
            </a:r>
            <a:r>
              <a:rPr sz="950">
                <a:solidFill>
                  <a:srgbClr val="1E293B"/>
                </a:solidFill>
              </a:rPr>
              <a:t>A Hands-On Visual Approach utilizing Bloch Sphere Geodesic Rotations.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• Developing Programming Assignments for QIST: </a:t>
            </a:r>
            <a:r>
              <a:rPr sz="950">
                <a:solidFill>
                  <a:srgbClr val="1E293B"/>
                </a:solidFill>
              </a:rPr>
              <a:t>Automated Circuit Verification &amp; Misconception Ontologies in Collegiate Computer Science.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• Nature India (2023): </a:t>
            </a:r>
            <a:r>
              <a:rPr sz="950">
                <a:solidFill>
                  <a:srgbClr val="1E293B"/>
                </a:solidFill>
              </a:rPr>
              <a:t>Making Indian Universities Quantum Ready: Overcoming the Collegiate Hardware &amp; Laboratory Deficit.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0320"/>
            <a:ext cx="53035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560320"/>
            <a:ext cx="53035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OFFICIAL GOVERNMENT &amp; INDUSTRY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McKinsey &amp; Company (2022–2026): </a:t>
            </a:r>
            <a:r>
              <a:rPr sz="950">
                <a:solidFill>
                  <a:srgbClr val="1E293B"/>
                </a:solidFill>
              </a:rPr>
              <a:t>Quantum Technology Workforce and Adoption Research: The 300,000 Specialist Deficit.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Government of India (DST / NQM): </a:t>
            </a:r>
            <a:r>
              <a:rPr sz="950">
                <a:solidFill>
                  <a:srgbClr val="1E293B"/>
                </a:solidFill>
              </a:rPr>
              <a:t>National Quantum Mission Policy &amp; Collegiate Capability Enhancement Guidelines (₹6,003 Cr).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IBM Quantum &amp; NPTEL (2026): </a:t>
            </a:r>
            <a:r>
              <a:rPr sz="950">
                <a:solidFill>
                  <a:srgbClr val="1E293B"/>
                </a:solidFill>
              </a:rPr>
              <a:t>Introduction to Quantum Computing MOOC Enrollment &amp; Collegiate Drop-Out Rate Data.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QED-C / U.K. Quantum Skills Taskforce: </a:t>
            </a:r>
            <a:r>
              <a:rPr sz="950">
                <a:solidFill>
                  <a:srgbClr val="1E293B"/>
                </a:solidFill>
              </a:rPr>
              <a:t>Quantum Workforce Composition and Educational Tooling Reports (2025–2026).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• IBM Qiskit Documentation: </a:t>
            </a:r>
            <a:r>
              <a:rPr sz="950">
                <a:solidFill>
                  <a:srgbClr val="1E293B"/>
                </a:solidFill>
              </a:rPr>
              <a:t>Open-source Qiskit Aer statevector simulation microservice and transpiler specification.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